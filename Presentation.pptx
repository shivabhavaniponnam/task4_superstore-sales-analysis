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Times New Roman MT" charset="1" panose="02030502070405020303"/>
      <p:regular r:id="rId15"/>
    </p:embeddedFont>
    <p:embeddedFont>
      <p:font typeface="Times New Roman MT Bold" charset="1" panose="02030802070405020303"/>
      <p:regular r:id="rId16"/>
    </p:embeddedFont>
    <p:embeddedFont>
      <p:font typeface="League Spartan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41236" y="2497095"/>
            <a:ext cx="12405528" cy="3689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5"/>
              </a:lnSpc>
              <a:spcBef>
                <a:spcPct val="0"/>
              </a:spcBef>
            </a:pPr>
            <a:r>
              <a:rPr lang="en-US" sz="676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SUPERSTORE SALES ANALYSIS AND BUSINESS INSIGHTS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446818" y="8630505"/>
            <a:ext cx="897167" cy="2183545"/>
            <a:chOff x="0" y="0"/>
            <a:chExt cx="236291" cy="5750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6291" cy="575090"/>
            </a:xfrm>
            <a:custGeom>
              <a:avLst/>
              <a:gdLst/>
              <a:ahLst/>
              <a:cxnLst/>
              <a:rect r="r" b="b" t="t" l="l"/>
              <a:pathLst>
                <a:path h="575090" w="236291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446449" y="375919"/>
            <a:ext cx="8576563" cy="113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Business Objective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95858" y="3329339"/>
            <a:ext cx="9525" cy="697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62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722017" y="1772203"/>
            <a:ext cx="10050066" cy="4591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9220" indent="-489610" lvl="1">
              <a:lnSpc>
                <a:spcPts val="9116"/>
              </a:lnSpc>
              <a:buFont typeface="Arial"/>
              <a:buChar char="•"/>
            </a:pPr>
            <a:r>
              <a:rPr lang="en-US" sz="453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Analyze sales and profit performance</a:t>
            </a:r>
          </a:p>
          <a:p>
            <a:pPr algn="l" marL="979220" indent="-489610" lvl="1">
              <a:lnSpc>
                <a:spcPts val="9116"/>
              </a:lnSpc>
              <a:buFont typeface="Arial"/>
              <a:buChar char="•"/>
            </a:pPr>
            <a:r>
              <a:rPr lang="en-US" sz="453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Identify profitable categories/regions</a:t>
            </a:r>
          </a:p>
          <a:p>
            <a:pPr algn="l" marL="979220" indent="-489610" lvl="1">
              <a:lnSpc>
                <a:spcPts val="9116"/>
              </a:lnSpc>
              <a:buFont typeface="Arial"/>
              <a:buChar char="•"/>
            </a:pPr>
            <a:r>
              <a:rPr lang="en-US" sz="453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find factors affecting profit</a:t>
            </a:r>
          </a:p>
          <a:p>
            <a:pPr algn="l" marL="979220" indent="-489610" lvl="1">
              <a:lnSpc>
                <a:spcPts val="9116"/>
              </a:lnSpc>
              <a:buFont typeface="Arial"/>
              <a:buChar char="•"/>
            </a:pPr>
            <a:r>
              <a:rPr lang="en-US" sz="4535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Provide business recomendations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749939"/>
            <a:ext cx="17866073" cy="6520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88"/>
              </a:lnSpc>
            </a:pPr>
          </a:p>
          <a:p>
            <a:pPr algn="ctr">
              <a:lnSpc>
                <a:spcPts val="3788"/>
              </a:lnSpc>
            </a:pPr>
          </a:p>
          <a:p>
            <a:pPr algn="l" marL="971548" indent="-485774" lvl="1">
              <a:lnSpc>
                <a:spcPts val="9044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Superstore sales dataset containing retail transaction records</a:t>
            </a:r>
          </a:p>
          <a:p>
            <a:pPr algn="l" marL="971548" indent="-485774" lvl="1">
              <a:lnSpc>
                <a:spcPts val="9044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Includes sales, profit, discount, category, region, and customer segment data</a:t>
            </a:r>
          </a:p>
          <a:p>
            <a:pPr algn="l" marL="971548" indent="-485774" lvl="1">
              <a:lnSpc>
                <a:spcPts val="9044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Dataset used to analyze sales performance and business trends</a:t>
            </a:r>
          </a:p>
          <a:p>
            <a:pPr algn="l" marL="971548" indent="-485774" lvl="1">
              <a:lnSpc>
                <a:spcPts val="9044"/>
              </a:lnSpc>
              <a:buFont typeface="Arial"/>
              <a:buChar char="•"/>
            </a:pPr>
            <a:r>
              <a:rPr lang="en-US" sz="449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 cleaning and preprocessing performed for accurate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773177" y="733425"/>
            <a:ext cx="7105076" cy="1443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57"/>
              </a:lnSpc>
              <a:spcBef>
                <a:spcPct val="0"/>
              </a:spcBef>
            </a:pPr>
            <a:r>
              <a:rPr lang="en-US" b="true" sz="7612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 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80992" y="2216557"/>
            <a:ext cx="6412052" cy="3774171"/>
          </a:xfrm>
          <a:custGeom>
            <a:avLst/>
            <a:gdLst/>
            <a:ahLst/>
            <a:cxnLst/>
            <a:rect r="r" b="b" t="t" l="l"/>
            <a:pathLst>
              <a:path h="3774171" w="6412052">
                <a:moveTo>
                  <a:pt x="0" y="0"/>
                </a:moveTo>
                <a:lnTo>
                  <a:pt x="6412052" y="0"/>
                </a:lnTo>
                <a:lnTo>
                  <a:pt x="6412052" y="3774171"/>
                </a:lnTo>
                <a:lnTo>
                  <a:pt x="0" y="37741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58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3704" y="1642659"/>
            <a:ext cx="4961029" cy="4208767"/>
          </a:xfrm>
          <a:custGeom>
            <a:avLst/>
            <a:gdLst/>
            <a:ahLst/>
            <a:cxnLst/>
            <a:rect r="r" b="b" t="t" l="l"/>
            <a:pathLst>
              <a:path h="4208767" w="4961029">
                <a:moveTo>
                  <a:pt x="0" y="0"/>
                </a:moveTo>
                <a:lnTo>
                  <a:pt x="4961028" y="0"/>
                </a:lnTo>
                <a:lnTo>
                  <a:pt x="4961028" y="4208767"/>
                </a:lnTo>
                <a:lnTo>
                  <a:pt x="0" y="42087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4825" b="-87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75467" y="1642659"/>
            <a:ext cx="2625192" cy="1963517"/>
          </a:xfrm>
          <a:custGeom>
            <a:avLst/>
            <a:gdLst/>
            <a:ahLst/>
            <a:cxnLst/>
            <a:rect r="r" b="b" t="t" l="l"/>
            <a:pathLst>
              <a:path h="1963517" w="2625192">
                <a:moveTo>
                  <a:pt x="0" y="0"/>
                </a:moveTo>
                <a:lnTo>
                  <a:pt x="2625192" y="0"/>
                </a:lnTo>
                <a:lnTo>
                  <a:pt x="2625192" y="1963517"/>
                </a:lnTo>
                <a:lnTo>
                  <a:pt x="0" y="196351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894" t="-18855" r="-64089" b="-1675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372125" y="3805144"/>
            <a:ext cx="2431876" cy="1956660"/>
          </a:xfrm>
          <a:custGeom>
            <a:avLst/>
            <a:gdLst/>
            <a:ahLst/>
            <a:cxnLst/>
            <a:rect r="r" b="b" t="t" l="l"/>
            <a:pathLst>
              <a:path h="1956660" w="2431876">
                <a:moveTo>
                  <a:pt x="0" y="0"/>
                </a:moveTo>
                <a:lnTo>
                  <a:pt x="2431876" y="0"/>
                </a:lnTo>
                <a:lnTo>
                  <a:pt x="2431876" y="1956660"/>
                </a:lnTo>
                <a:lnTo>
                  <a:pt x="0" y="19566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859" t="0" r="-55688" b="-1215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55075" y="5029897"/>
            <a:ext cx="3263886" cy="960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US" b="true" sz="5672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82%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39238" y="4953317"/>
            <a:ext cx="9525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6364732" y="126577"/>
            <a:ext cx="4585307" cy="113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54"/>
              </a:lnSpc>
              <a:spcBef>
                <a:spcPct val="0"/>
              </a:spcBef>
            </a:pPr>
            <a:r>
              <a:rPr lang="en-US" b="true" sz="603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Sales Analysis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158648" y="6762253"/>
            <a:ext cx="13342736" cy="2466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2439" indent="-486219" lvl="1">
              <a:lnSpc>
                <a:spcPts val="6305"/>
              </a:lnSpc>
              <a:buFont typeface="Arial"/>
              <a:buChar char="•"/>
            </a:pPr>
            <a:r>
              <a:rPr lang="en-US" sz="45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Sales showed steady growth over time</a:t>
            </a:r>
          </a:p>
          <a:p>
            <a:pPr algn="l" marL="972439" indent="-486219" lvl="1">
              <a:lnSpc>
                <a:spcPts val="6305"/>
              </a:lnSpc>
              <a:buFont typeface="Arial"/>
              <a:buChar char="•"/>
            </a:pPr>
            <a:r>
              <a:rPr lang="en-US" sz="45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Technology category generated highest sales</a:t>
            </a:r>
          </a:p>
          <a:p>
            <a:pPr algn="l" marL="972439" indent="-486219" lvl="1">
              <a:lnSpc>
                <a:spcPts val="6305"/>
              </a:lnSpc>
              <a:buFont typeface="Arial"/>
              <a:buChar char="•"/>
            </a:pPr>
            <a:r>
              <a:rPr lang="en-US" sz="45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West region contributed maximum revenue</a:t>
            </a:r>
            <a:r>
              <a:rPr lang="en-US" sz="450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9084" y="2034542"/>
            <a:ext cx="6156083" cy="3698244"/>
          </a:xfrm>
          <a:custGeom>
            <a:avLst/>
            <a:gdLst/>
            <a:ahLst/>
            <a:cxnLst/>
            <a:rect r="r" b="b" t="t" l="l"/>
            <a:pathLst>
              <a:path h="3698244" w="6156083">
                <a:moveTo>
                  <a:pt x="0" y="0"/>
                </a:moveTo>
                <a:lnTo>
                  <a:pt x="6156083" y="0"/>
                </a:lnTo>
                <a:lnTo>
                  <a:pt x="6156083" y="3698244"/>
                </a:lnTo>
                <a:lnTo>
                  <a:pt x="0" y="36982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630660" y="2034542"/>
            <a:ext cx="5469614" cy="3980663"/>
          </a:xfrm>
          <a:custGeom>
            <a:avLst/>
            <a:gdLst/>
            <a:ahLst/>
            <a:cxnLst/>
            <a:rect r="r" b="b" t="t" l="l"/>
            <a:pathLst>
              <a:path h="3980663" w="5469614">
                <a:moveTo>
                  <a:pt x="0" y="0"/>
                </a:moveTo>
                <a:lnTo>
                  <a:pt x="5469614" y="0"/>
                </a:lnTo>
                <a:lnTo>
                  <a:pt x="5469614" y="3980663"/>
                </a:lnTo>
                <a:lnTo>
                  <a:pt x="0" y="39806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304228" y="347661"/>
            <a:ext cx="10254735" cy="113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Regional and Segement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205484" y="5587938"/>
            <a:ext cx="12482040" cy="4011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8582" indent="-429291" lvl="1">
              <a:lnSpc>
                <a:spcPts val="7953"/>
              </a:lnSpc>
              <a:buFont typeface="Arial"/>
              <a:buChar char="•"/>
            </a:pPr>
            <a:r>
              <a:rPr lang="en-US" sz="397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West region had highest sales</a:t>
            </a:r>
          </a:p>
          <a:p>
            <a:pPr algn="l" marL="858582" indent="-429291" lvl="1">
              <a:lnSpc>
                <a:spcPts val="7953"/>
              </a:lnSpc>
              <a:buFont typeface="Arial"/>
              <a:buChar char="•"/>
            </a:pPr>
            <a:r>
              <a:rPr lang="en-US" sz="397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South region showed lower performance</a:t>
            </a:r>
          </a:p>
          <a:p>
            <a:pPr algn="l" marL="858582" indent="-429291" lvl="1">
              <a:lnSpc>
                <a:spcPts val="7953"/>
              </a:lnSpc>
              <a:buFont typeface="Arial"/>
              <a:buChar char="•"/>
            </a:pPr>
            <a:r>
              <a:rPr lang="en-US" sz="397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Consumer segment contributed most sales</a:t>
            </a:r>
          </a:p>
          <a:p>
            <a:pPr algn="l" marL="858582" indent="-429291" lvl="1">
              <a:lnSpc>
                <a:spcPts val="7953"/>
              </a:lnSpc>
              <a:buFont typeface="Arial"/>
              <a:buChar char="•"/>
            </a:pPr>
            <a:r>
              <a:rPr lang="en-US" sz="3976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Corporate segment generated good profit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34363" y="1996560"/>
            <a:ext cx="13913151" cy="56934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76940" indent="-488470" lvl="1">
              <a:lnSpc>
                <a:spcPts val="9049"/>
              </a:lnSpc>
              <a:buFont typeface="Arial"/>
              <a:buChar char="•"/>
            </a:pPr>
            <a:r>
              <a:rPr lang="en-US" sz="452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Technology category generated highest profit</a:t>
            </a:r>
          </a:p>
          <a:p>
            <a:pPr algn="l" marL="976940" indent="-488470" lvl="1">
              <a:lnSpc>
                <a:spcPts val="9049"/>
              </a:lnSpc>
              <a:buFont typeface="Arial"/>
              <a:buChar char="•"/>
            </a:pPr>
            <a:r>
              <a:rPr lang="en-US" sz="452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 discounts reduced profit</a:t>
            </a:r>
          </a:p>
          <a:p>
            <a:pPr algn="l" marL="976940" indent="-488470" lvl="1">
              <a:lnSpc>
                <a:spcPts val="9049"/>
              </a:lnSpc>
              <a:buFont typeface="Arial"/>
              <a:buChar char="•"/>
            </a:pPr>
            <a:r>
              <a:rPr lang="en-US" sz="452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West region had highest sales</a:t>
            </a:r>
          </a:p>
          <a:p>
            <a:pPr algn="l" marL="976940" indent="-488470" lvl="1">
              <a:lnSpc>
                <a:spcPts val="9049"/>
              </a:lnSpc>
              <a:buFont typeface="Arial"/>
              <a:buChar char="•"/>
            </a:pPr>
            <a:r>
              <a:rPr lang="en-US" sz="452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Furniture category showed low profitability</a:t>
            </a:r>
          </a:p>
          <a:p>
            <a:pPr algn="l" marL="976940" indent="-488470" lvl="1">
              <a:lnSpc>
                <a:spcPts val="9049"/>
              </a:lnSpc>
              <a:buFont typeface="Arial"/>
              <a:buChar char="•"/>
            </a:pPr>
            <a:r>
              <a:rPr lang="en-US" sz="4524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Sales increased during certain months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47600" y="613277"/>
            <a:ext cx="3886676" cy="113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Key Insights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78493" y="2085052"/>
            <a:ext cx="11452191" cy="633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5"/>
              </a:lnSpc>
            </a:pPr>
          </a:p>
          <a:p>
            <a:pPr algn="l" marL="970923" indent="-485462" lvl="1">
              <a:lnSpc>
                <a:spcPts val="8994"/>
              </a:lnSpc>
              <a:buFont typeface="Arial"/>
              <a:buChar char="•"/>
            </a:pPr>
            <a:r>
              <a:rPr lang="en-US" sz="44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Reduce excessive discounts</a:t>
            </a:r>
          </a:p>
          <a:p>
            <a:pPr algn="l" marL="970923" indent="-485462" lvl="1">
              <a:lnSpc>
                <a:spcPts val="8994"/>
              </a:lnSpc>
              <a:buFont typeface="Arial"/>
              <a:buChar char="•"/>
            </a:pPr>
            <a:r>
              <a:rPr lang="en-US" sz="44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Focus on profitable categories</a:t>
            </a:r>
          </a:p>
          <a:p>
            <a:pPr algn="l" marL="970923" indent="-485462" lvl="1">
              <a:lnSpc>
                <a:spcPts val="8994"/>
              </a:lnSpc>
              <a:buFont typeface="Arial"/>
              <a:buChar char="•"/>
            </a:pPr>
            <a:r>
              <a:rPr lang="en-US" sz="44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Improve low-performing regions</a:t>
            </a:r>
          </a:p>
          <a:p>
            <a:pPr algn="l" marL="970923" indent="-485462" lvl="1">
              <a:lnSpc>
                <a:spcPts val="8994"/>
              </a:lnSpc>
              <a:buFont typeface="Arial"/>
              <a:buChar char="•"/>
            </a:pPr>
            <a:r>
              <a:rPr lang="en-US" sz="44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Optimize pricing strategy</a:t>
            </a:r>
          </a:p>
          <a:p>
            <a:pPr algn="l" marL="970923" indent="-485462" lvl="1">
              <a:lnSpc>
                <a:spcPts val="8994"/>
              </a:lnSpc>
              <a:buFont typeface="Arial"/>
              <a:buChar char="•"/>
            </a:pPr>
            <a:r>
              <a:rPr lang="en-US" sz="4497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Target high-value customers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17364" y="763616"/>
            <a:ext cx="11452191" cy="1492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19"/>
              </a:lnSpc>
            </a:pPr>
            <a:r>
              <a:rPr lang="en-US" sz="579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Business Recommendations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164342"/>
            <a:ext cx="16827935" cy="6165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88"/>
              </a:lnSpc>
            </a:pPr>
          </a:p>
          <a:p>
            <a:pPr algn="l" marL="938988" indent="-469494" lvl="1">
              <a:lnSpc>
                <a:spcPts val="8698"/>
              </a:lnSpc>
              <a:buFont typeface="Arial"/>
              <a:buChar char="•"/>
            </a:pPr>
            <a:r>
              <a:rPr lang="en-US" sz="434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Sales and profit trends were successfully analyzed</a:t>
            </a:r>
          </a:p>
          <a:p>
            <a:pPr algn="l" marL="938988" indent="-469494" lvl="1">
              <a:lnSpc>
                <a:spcPts val="8698"/>
              </a:lnSpc>
              <a:buFont typeface="Arial"/>
              <a:buChar char="•"/>
            </a:pPr>
            <a:r>
              <a:rPr lang="en-US" sz="434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Technology category and West region performed best</a:t>
            </a:r>
          </a:p>
          <a:p>
            <a:pPr algn="l" marL="938988" indent="-469494" lvl="1">
              <a:lnSpc>
                <a:spcPts val="8698"/>
              </a:lnSpc>
              <a:buFont typeface="Arial"/>
              <a:buChar char="•"/>
            </a:pPr>
            <a:r>
              <a:rPr lang="en-US" sz="434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Discounts had a significant impact on profit</a:t>
            </a:r>
          </a:p>
          <a:p>
            <a:pPr algn="l" marL="938988" indent="-469494" lvl="1">
              <a:lnSpc>
                <a:spcPts val="8698"/>
              </a:lnSpc>
              <a:buFont typeface="Arial"/>
              <a:buChar char="•"/>
            </a:pPr>
            <a:r>
              <a:rPr lang="en-US" sz="434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Data-driven insights helped identify business improvement areas</a:t>
            </a:r>
          </a:p>
          <a:p>
            <a:pPr algn="l" marL="938988" indent="-469494" lvl="1">
              <a:lnSpc>
                <a:spcPts val="8698"/>
              </a:lnSpc>
              <a:buFont typeface="Arial"/>
              <a:buChar char="•"/>
            </a:pPr>
            <a:r>
              <a:rPr lang="en-US" sz="4349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Recommendations were provided to improve overall profitability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78215" y="1033444"/>
            <a:ext cx="3492698" cy="1133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399"/>
              </a:lnSpc>
              <a:spcBef>
                <a:spcPct val="0"/>
              </a:spcBef>
            </a:pPr>
            <a:r>
              <a:rPr lang="en-US" b="true" sz="599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Conclusion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33297" y="3182072"/>
            <a:ext cx="9096436" cy="1364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63"/>
              </a:lnSpc>
            </a:pPr>
            <a:r>
              <a:rPr lang="en-US" b="true" sz="7973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DAHJLP-8O5I</dc:identifier>
  <dcterms:modified xsi:type="dcterms:W3CDTF">2011-08-01T06:04:30Z</dcterms:modified>
  <cp:revision>1</cp:revision>
  <dc:title>Blue &amp; white company profile presentation</dc:title>
</cp:coreProperties>
</file>